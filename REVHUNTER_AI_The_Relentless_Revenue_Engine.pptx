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213" y="789803"/>
            <a:ext cx="8029575" cy="3549579"/>
          </a:xfrm>
          <a:prstGeom prst="rect">
            <a:avLst/>
          </a:prstGeom>
          <a:solidFill>
            <a:srgbClr val="21262D">
              <a:alpha val="80000"/>
            </a:srgbClr>
          </a:solidFill>
          <a:ln w="18288">
            <a:solidFill>
              <a:srgbClr val="D73A4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53023" y="1232715"/>
            <a:ext cx="37951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ACTIVE: FILCAN CARS PERFORMANCE PORTAL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1000125" y="1676549"/>
            <a:ext cx="714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REVHUNTER AI: THE RELENTLESS REVENUE ENGINE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000125" y="2733824"/>
            <a:ext cx="7143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HANDOFF. ELITE AUTOMATION. ZERO LEAD LEAKAGE.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000125" y="3573214"/>
            <a:ext cx="7143750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$0 Setup Performance Partnership with FilCan Cars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343025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MOST DEALERSHIPS ARE LEAKING $50,000 / MONTH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557338"/>
            <a:ext cx="4029075" cy="2277015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557338"/>
            <a:ext cx="4021931" cy="39290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557338"/>
            <a:ext cx="4021931" cy="392906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"OLD WAY" (THE GAP)</a:t>
            </a:r>
            <a:endParaRPr lang="en-US" sz="119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78831"/>
            <a:ext cx="142875" cy="178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1531" y="2078831"/>
            <a:ext cx="34861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CRM Entries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821531" y="2298502"/>
            <a:ext cx="30128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data entry leads to errors and missing customer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821531" y="2458510"/>
            <a:ext cx="64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information.</a:t>
            </a:r>
            <a:endParaRPr lang="en-US" sz="834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7816"/>
            <a:ext cx="142875" cy="1785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531" y="2707816"/>
            <a:ext cx="30950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4-Hour Response Times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821531" y="2927486"/>
            <a:ext cx="30950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go cold before your team even makes the first call.</a:t>
            </a:r>
            <a:endParaRPr lang="en-US" sz="83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76792"/>
            <a:ext cx="142875" cy="1785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1531" y="3176792"/>
            <a:ext cx="31700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Uninspired Scripts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821531" y="3396462"/>
            <a:ext cx="31700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 interactions that fail to build rapport or excitement.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664869" y="1557338"/>
            <a:ext cx="4050506" cy="2277015"/>
          </a:xfrm>
          <a:prstGeom prst="rect">
            <a:avLst/>
          </a:prstGeom>
          <a:solidFill>
            <a:srgbClr val="30363D">
              <a:alpha val="50000"/>
            </a:srgbClr>
          </a:solidFill>
          <a:ln w="18288">
            <a:solidFill>
              <a:srgbClr val="D73A4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679156" y="1557338"/>
            <a:ext cx="4036219" cy="392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4679156" y="1557338"/>
            <a:ext cx="4036219" cy="392906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REVHUNTER WAY</a:t>
            </a:r>
            <a:endParaRPr lang="en-US" sz="1193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078831"/>
            <a:ext cx="107156" cy="1785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36344" y="2078831"/>
            <a:ext cx="34611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30-Second AI Engagement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5036344" y="2298502"/>
            <a:ext cx="34611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contact ensures you're the first to talk to every prospect.</a:t>
            </a:r>
            <a:endParaRPr lang="en-US" sz="834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2547807"/>
            <a:ext cx="125016" cy="17859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54203" y="2547807"/>
            <a:ext cx="351829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High-Fidelity Lead DNA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>
            <a:off x="5054203" y="2767478"/>
            <a:ext cx="33236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insights into credit, trade-in, and unit interest before the</a:t>
            </a:r>
            <a:endParaRPr lang="en-US" sz="834" dirty="0"/>
          </a:p>
        </p:txBody>
      </p:sp>
      <p:sp>
        <p:nvSpPr>
          <p:cNvPr id="28" name="Text 20"/>
          <p:cNvSpPr/>
          <p:nvPr/>
        </p:nvSpPr>
        <p:spPr>
          <a:xfrm>
            <a:off x="5054203" y="2927486"/>
            <a:ext cx="2214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call.</a:t>
            </a:r>
            <a:endParaRPr lang="en-US" sz="834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176792"/>
            <a:ext cx="142875" cy="17859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72063" y="3176792"/>
            <a:ext cx="3500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Autonomous Hunting</a:t>
            </a:r>
            <a:endParaRPr lang="en-US" sz="987" dirty="0"/>
          </a:p>
        </p:txBody>
      </p:sp>
      <p:sp>
        <p:nvSpPr>
          <p:cNvPr id="31" name="Text 22"/>
          <p:cNvSpPr/>
          <p:nvPr/>
        </p:nvSpPr>
        <p:spPr>
          <a:xfrm>
            <a:off x="5072063" y="3396462"/>
            <a:ext cx="33218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AI never sleeps, hunting leads while your competitors are</a:t>
            </a:r>
            <a:endParaRPr lang="en-US" sz="834" dirty="0"/>
          </a:p>
        </p:txBody>
      </p:sp>
      <p:sp>
        <p:nvSpPr>
          <p:cNvPr id="32" name="Text 23"/>
          <p:cNvSpPr/>
          <p:nvPr/>
        </p:nvSpPr>
        <p:spPr>
          <a:xfrm>
            <a:off x="5072063" y="3556471"/>
            <a:ext cx="3732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offline.</a:t>
            </a:r>
            <a:endParaRPr lang="en-US" sz="834" dirty="0"/>
          </a:p>
        </p:txBody>
      </p:sp>
      <p:sp>
        <p:nvSpPr>
          <p:cNvPr id="33" name="Shape 24"/>
          <p:cNvSpPr/>
          <p:nvPr/>
        </p:nvSpPr>
        <p:spPr>
          <a:xfrm>
            <a:off x="428625" y="3962940"/>
            <a:ext cx="8286750" cy="600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25"/>
          <p:cNvSpPr/>
          <p:nvPr/>
        </p:nvSpPr>
        <p:spPr>
          <a:xfrm>
            <a:off x="428625" y="3962940"/>
            <a:ext cx="8286750" cy="14288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35" name="Text 26"/>
          <p:cNvSpPr/>
          <p:nvPr/>
        </p:nvSpPr>
        <p:spPr>
          <a:xfrm>
            <a:off x="428625" y="3962940"/>
            <a:ext cx="8286750" cy="600075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MESSAGE: YOU DON'T HAVE A LEAD PROBLEM; YOU HAVE A </a:t>
            </a: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PROBLEM</a:t>
            </a: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84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78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0119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ELLIOT: YOUR 24/7 DIGITAL SALES PROFESSIONAL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78744"/>
            <a:ext cx="8286750" cy="2770994"/>
          </a:xfrm>
          <a:prstGeom prst="rect">
            <a:avLst/>
          </a:prstGeom>
          <a:solidFill>
            <a:srgbClr val="21262D">
              <a:alpha val="90000"/>
            </a:srgbClr>
          </a:solidFill>
          <a:ln w="18288">
            <a:solidFill>
              <a:srgbClr val="D73A4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378744"/>
            <a:ext cx="8286750" cy="464344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64481"/>
            <a:ext cx="250031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1543050"/>
            <a:ext cx="249138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ELLIOT: SYSTEM ACTIVE</a:t>
            </a:r>
            <a:endParaRPr lang="en-US" sz="1397" dirty="0"/>
          </a:p>
        </p:txBody>
      </p:sp>
      <p:sp>
        <p:nvSpPr>
          <p:cNvPr id="10" name="Shape 6"/>
          <p:cNvSpPr/>
          <p:nvPr/>
        </p:nvSpPr>
        <p:spPr>
          <a:xfrm>
            <a:off x="714375" y="2128838"/>
            <a:ext cx="3714750" cy="1706575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28688" y="2343150"/>
            <a:ext cx="1448395" cy="207169"/>
          </a:xfrm>
          <a:prstGeom prst="rect">
            <a:avLst/>
          </a:prstGeom>
          <a:solidFill>
            <a:srgbClr val="D73A49">
              <a:alpha val="10000"/>
            </a:srgbClr>
          </a:solidFill>
          <a:ln w="9144">
            <a:solidFill>
              <a:srgbClr val="D73A4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28688" y="2343150"/>
            <a:ext cx="1448395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DEPLOYMENT: PHASE 01</a:t>
            </a:r>
            <a:endParaRPr lang="en-US" sz="68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2694980"/>
            <a:ext cx="19645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6578" y="2678906"/>
            <a:ext cx="21359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OMNI-CHANNEL MASTERY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928688" y="2975372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Elliot conquers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Facebook, Web, and SMS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instant, intelligent precision. Never lets a digital lead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cold.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714875" y="2128838"/>
            <a:ext cx="3714750" cy="1706575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29188" y="2343150"/>
            <a:ext cx="1468041" cy="207169"/>
          </a:xfrm>
          <a:prstGeom prst="rect">
            <a:avLst/>
          </a:prstGeom>
          <a:solidFill>
            <a:srgbClr val="D73A49">
              <a:alpha val="10000"/>
            </a:srgbClr>
          </a:solidFill>
          <a:ln w="9144">
            <a:solidFill>
              <a:srgbClr val="D73A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929188" y="2343150"/>
            <a:ext cx="1468041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DEPLOYMENT: PHASE 02</a:t>
            </a:r>
            <a:endParaRPr lang="en-US" sz="683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694980"/>
            <a:ext cx="157163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57788" y="2678906"/>
            <a:ext cx="17127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VOICE OF FILCAN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4929188" y="2975372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Elliot makes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human-sounding outbound calls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qualify intent, credit, and trade-in value instantly.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Pre-vets every buyer.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28625" y="4492637"/>
            <a:ext cx="8286750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28625" y="4492637"/>
            <a:ext cx="107156" cy="6000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4" name="Text 18"/>
          <p:cNvSpPr/>
          <p:nvPr/>
        </p:nvSpPr>
        <p:spPr>
          <a:xfrm>
            <a:off x="428625" y="4492637"/>
            <a:ext cx="8286750" cy="60007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126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YOUR AGENTS ONLY SPEND TIME ON </a:t>
            </a:r>
            <a:r>
              <a:rPr lang="en-US" sz="1397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CLOSURES</a:t>
            </a:r>
            <a:r>
              <a:rPr lang="en-US" sz="1397" b="1" dirty="0">
                <a:solidFill>
                  <a:srgbClr val="2126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78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0119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INTELLIGENCE, NOT JUST CONTACT INFO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07306"/>
            <a:ext cx="3619928" cy="3494298"/>
          </a:xfrm>
          <a:prstGeom prst="rect">
            <a:avLst/>
          </a:prstGeom>
          <a:solidFill>
            <a:srgbClr val="D73A49">
              <a:alpha val="5000"/>
            </a:srgbClr>
          </a:solidFill>
          <a:ln w="18288">
            <a:solidFill>
              <a:srgbClr val="D73A4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307306"/>
            <a:ext cx="3604357" cy="285750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07306"/>
            <a:ext cx="3604357" cy="2857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DNA PROFILE: ACTIVE</a:t>
            </a:r>
            <a:endParaRPr lang="en-US" sz="88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56" y="2629402"/>
            <a:ext cx="750094" cy="857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0665" y="3629527"/>
            <a:ext cx="18602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SCANNING LEAD INTEGRITY... 100%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4390169" y="1307306"/>
            <a:ext cx="4325206" cy="83581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390169" y="1307306"/>
            <a:ext cx="28575" cy="835819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13" name="Text 9"/>
          <p:cNvSpPr/>
          <p:nvPr/>
        </p:nvSpPr>
        <p:spPr>
          <a:xfrm>
            <a:off x="4533044" y="1607344"/>
            <a:ext cx="41823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leads are just names.</a:t>
            </a:r>
            <a:endParaRPr lang="en-US" sz="1090" dirty="0"/>
          </a:p>
        </p:txBody>
      </p:sp>
      <p:sp>
        <p:nvSpPr>
          <p:cNvPr id="14" name="Text 10"/>
          <p:cNvSpPr/>
          <p:nvPr/>
        </p:nvSpPr>
        <p:spPr>
          <a:xfrm>
            <a:off x="4533044" y="1953816"/>
            <a:ext cx="41823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RevHunter leads are DNA profiles.</a:t>
            </a:r>
            <a:endParaRPr lang="en-US" sz="1090" dirty="0"/>
          </a:p>
        </p:txBody>
      </p:sp>
      <p:sp>
        <p:nvSpPr>
          <p:cNvPr id="15" name="Shape 11"/>
          <p:cNvSpPr/>
          <p:nvPr/>
        </p:nvSpPr>
        <p:spPr>
          <a:xfrm>
            <a:off x="4390169" y="2357438"/>
            <a:ext cx="2091165" cy="846144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2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325" y="2464594"/>
            <a:ext cx="192881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97325" y="2707481"/>
            <a:ext cx="1984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RANGE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4497325" y="2912864"/>
            <a:ext cx="18645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verification of financial standing</a:t>
            </a:r>
            <a:endParaRPr lang="en-US" sz="727" dirty="0"/>
          </a:p>
        </p:txBody>
      </p:sp>
      <p:sp>
        <p:nvSpPr>
          <p:cNvPr id="19" name="Text 14"/>
          <p:cNvSpPr/>
          <p:nvPr/>
        </p:nvSpPr>
        <p:spPr>
          <a:xfrm>
            <a:off x="4497325" y="3058223"/>
            <a:ext cx="8786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loan eligibility.</a:t>
            </a:r>
            <a:endParaRPr lang="en-US" sz="727" dirty="0"/>
          </a:p>
        </p:txBody>
      </p:sp>
      <p:sp>
        <p:nvSpPr>
          <p:cNvPr id="20" name="Shape 15"/>
          <p:cNvSpPr/>
          <p:nvPr/>
        </p:nvSpPr>
        <p:spPr>
          <a:xfrm>
            <a:off x="6624210" y="2357438"/>
            <a:ext cx="2091165" cy="846144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2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366" y="2464594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31366" y="2707481"/>
            <a:ext cx="1984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BUDGET</a:t>
            </a:r>
            <a:endParaRPr lang="en-US" sz="885" dirty="0"/>
          </a:p>
        </p:txBody>
      </p:sp>
      <p:sp>
        <p:nvSpPr>
          <p:cNvPr id="23" name="Text 17"/>
          <p:cNvSpPr/>
          <p:nvPr/>
        </p:nvSpPr>
        <p:spPr>
          <a:xfrm>
            <a:off x="6731366" y="2912864"/>
            <a:ext cx="17180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extraction of the customer's</a:t>
            </a:r>
            <a:endParaRPr lang="en-US" sz="727" dirty="0"/>
          </a:p>
        </p:txBody>
      </p:sp>
      <p:sp>
        <p:nvSpPr>
          <p:cNvPr id="24" name="Text 18"/>
          <p:cNvSpPr/>
          <p:nvPr/>
        </p:nvSpPr>
        <p:spPr>
          <a:xfrm>
            <a:off x="6731366" y="3058223"/>
            <a:ext cx="14269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comfortable payment window.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4390169" y="3332169"/>
            <a:ext cx="2091165" cy="846144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2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325" y="3439325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7325" y="3682212"/>
            <a:ext cx="1984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TRADE-IN EQUITY</a:t>
            </a:r>
            <a:endParaRPr lang="en-US" sz="885" dirty="0"/>
          </a:p>
        </p:txBody>
      </p:sp>
      <p:sp>
        <p:nvSpPr>
          <p:cNvPr id="28" name="Text 21"/>
          <p:cNvSpPr/>
          <p:nvPr/>
        </p:nvSpPr>
        <p:spPr>
          <a:xfrm>
            <a:off x="4497325" y="3887595"/>
            <a:ext cx="17716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valuation of current vehicle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4497325" y="4032954"/>
            <a:ext cx="9036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assets for the deal.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6624210" y="3332169"/>
            <a:ext cx="2091165" cy="846144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C9D1D9">
                <a:alpha val="2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366" y="3439325"/>
            <a:ext cx="171450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31366" y="3682212"/>
            <a:ext cx="1984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INTEREST</a:t>
            </a:r>
            <a:endParaRPr lang="en-US" sz="885" dirty="0"/>
          </a:p>
        </p:txBody>
      </p:sp>
      <p:sp>
        <p:nvSpPr>
          <p:cNvPr id="33" name="Text 25"/>
          <p:cNvSpPr/>
          <p:nvPr/>
        </p:nvSpPr>
        <p:spPr>
          <a:xfrm>
            <a:off x="6731366" y="3887595"/>
            <a:ext cx="16198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identification of the exact</a:t>
            </a:r>
            <a:endParaRPr lang="en-US" sz="727" dirty="0"/>
          </a:p>
        </p:txBody>
      </p:sp>
      <p:sp>
        <p:nvSpPr>
          <p:cNvPr id="34" name="Text 26"/>
          <p:cNvSpPr/>
          <p:nvPr/>
        </p:nvSpPr>
        <p:spPr>
          <a:xfrm>
            <a:off x="6731366" y="4032954"/>
            <a:ext cx="12251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unit they desire.</a:t>
            </a:r>
            <a:endParaRPr lang="en-US" sz="727" dirty="0"/>
          </a:p>
        </p:txBody>
      </p:sp>
      <p:sp>
        <p:nvSpPr>
          <p:cNvPr id="35" name="Text 27"/>
          <p:cNvSpPr/>
          <p:nvPr/>
        </p:nvSpPr>
        <p:spPr>
          <a:xfrm>
            <a:off x="4390169" y="4449775"/>
            <a:ext cx="4325206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hand your agents the </a:t>
            </a:r>
            <a:r>
              <a:rPr lang="en-US" sz="987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"Cheat Sheet"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every customer.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78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0119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THE 10-LEAD-A-DAY REALITY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07306"/>
            <a:ext cx="2619384" cy="2514600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307306"/>
            <a:ext cx="2609841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07306"/>
            <a:ext cx="2609841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01: SCRAPE</a:t>
            </a:r>
            <a:endParaRPr lang="en-US" sz="98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38" y="1891308"/>
            <a:ext cx="357188" cy="357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" y="2468166"/>
            <a:ext cx="23240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SCRAPING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71500" y="2764631"/>
            <a:ext cx="2324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social media engagement targeting local buyers in real-time. We find them before they find you.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571500" y="3421856"/>
            <a:ext cx="2324091" cy="3857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TARGETING: LOCAL GEO-FENCE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ACTIVE HUNTING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3252778" y="1307306"/>
            <a:ext cx="2624128" cy="2514600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57550" y="1307306"/>
            <a:ext cx="2614613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15" name="Text 11"/>
          <p:cNvSpPr/>
          <p:nvPr/>
        </p:nvSpPr>
        <p:spPr>
          <a:xfrm>
            <a:off x="3257550" y="1307306"/>
            <a:ext cx="2614613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02: EVOLVE</a:t>
            </a:r>
            <a:endParaRPr lang="en-US" sz="987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263" y="1891308"/>
            <a:ext cx="357188" cy="357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00425" y="2468166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CAMPAIGNS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3400425" y="2764631"/>
            <a:ext cx="23288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ads that evolve based on market sentiment and inventory. Dynamic creative that converts.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3400425" y="3421856"/>
            <a:ext cx="2328863" cy="3857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OPTIMIZATION: REAL-TIME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CREATIVE: AI-GENERATED</a:t>
            </a:r>
            <a:endParaRPr lang="en-US" sz="727" dirty="0"/>
          </a:p>
        </p:txBody>
      </p:sp>
      <p:sp>
        <p:nvSpPr>
          <p:cNvPr id="20" name="Shape 15"/>
          <p:cNvSpPr/>
          <p:nvPr/>
        </p:nvSpPr>
        <p:spPr>
          <a:xfrm>
            <a:off x="6086475" y="1307306"/>
            <a:ext cx="2628900" cy="2514600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96019" y="1307306"/>
            <a:ext cx="2619384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2" name="Text 17"/>
          <p:cNvSpPr/>
          <p:nvPr/>
        </p:nvSpPr>
        <p:spPr>
          <a:xfrm>
            <a:off x="6096019" y="1307306"/>
            <a:ext cx="2619384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03: INJECT</a:t>
            </a:r>
            <a:endParaRPr lang="en-US" sz="98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779" y="1891308"/>
            <a:ext cx="401836" cy="3571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8894" y="2468166"/>
            <a:ext cx="23336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SHOWROOM INJECTION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6238894" y="2764631"/>
            <a:ext cx="23336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traffic is instantly converted into qualified showroom appointments. Direct pipeline to your floor.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238894" y="3421856"/>
            <a:ext cx="2333634" cy="3857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CONVERSION: HIGH-INTENT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ACTION: APPT. SET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428625" y="4093369"/>
            <a:ext cx="828675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28625" y="4093369"/>
            <a:ext cx="8286750" cy="14288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9" name="Text 23"/>
          <p:cNvSpPr/>
          <p:nvPr/>
        </p:nvSpPr>
        <p:spPr>
          <a:xfrm>
            <a:off x="642938" y="4271963"/>
            <a:ext cx="60453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HUNTER HUB: </a:t>
            </a:r>
            <a:r>
              <a:rPr lang="en-US" sz="1397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QUALIFIED LEADS</a:t>
            </a: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SINGLE DAY</a:t>
            </a:r>
            <a:endParaRPr lang="en-US" sz="1397" dirty="0"/>
          </a:p>
        </p:txBody>
      </p:sp>
      <p:sp>
        <p:nvSpPr>
          <p:cNvPr id="30" name="Text 24"/>
          <p:cNvSpPr/>
          <p:nvPr/>
        </p:nvSpPr>
        <p:spPr>
          <a:xfrm>
            <a:off x="7035143" y="4325541"/>
            <a:ext cx="16802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SYSTEM_STATUS: OPTIMIZED ]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THAT WINS: MOBILE PWA FOR SALES PROS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678781"/>
            <a:ext cx="2619384" cy="2005608"/>
          </a:xfrm>
          <a:prstGeom prst="rect">
            <a:avLst/>
          </a:prstGeom>
          <a:solidFill>
            <a:srgbClr val="30363D">
              <a:alpha val="4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678781"/>
            <a:ext cx="2609841" cy="585788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250281"/>
            <a:ext cx="2609841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0244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949351"/>
            <a:ext cx="13680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HUB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71500" y="2428875"/>
            <a:ext cx="23240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AT HAND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571500" y="2691408"/>
            <a:ext cx="232409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can listen to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Elliot's call recordings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read full chat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transcripts in our proprietary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"Bubble" UI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 more guessing what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said.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252778" y="1678781"/>
            <a:ext cx="2624128" cy="1977033"/>
          </a:xfrm>
          <a:prstGeom prst="rect">
            <a:avLst/>
          </a:prstGeom>
          <a:solidFill>
            <a:srgbClr val="30363D">
              <a:alpha val="4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57550" y="1678781"/>
            <a:ext cx="2614613" cy="585788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257550" y="2250281"/>
            <a:ext cx="2614613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950244"/>
            <a:ext cx="128588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6169" y="1949351"/>
            <a:ext cx="12055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PUSH-TO-CLOSE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3400425" y="2428875"/>
            <a:ext cx="2328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FRICTIONLESS ACTION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3400425" y="2691408"/>
            <a:ext cx="232886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1-tap dialing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trigger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follow-up nudges. The app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the logistics so you can focus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6086475" y="1678781"/>
            <a:ext cx="2628900" cy="1977033"/>
          </a:xfrm>
          <a:prstGeom prst="rect">
            <a:avLst/>
          </a:prstGeom>
          <a:solidFill>
            <a:srgbClr val="30363D">
              <a:alpha val="4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096019" y="1678781"/>
            <a:ext cx="2619384" cy="585788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096019" y="2250281"/>
            <a:ext cx="2619384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94" y="1950244"/>
            <a:ext cx="192881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8931" y="1949351"/>
            <a:ext cx="11090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FRICTION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6238894" y="2428875"/>
            <a:ext cx="23336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AGENT-FIRST TECH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6238894" y="2691408"/>
            <a:ext cx="233363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technology works for the agent, 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other way around.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you never miss a high-</a:t>
            </a: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window.</a:t>
            </a:r>
            <a:endParaRPr lang="en-US" sz="942" dirty="0"/>
          </a:p>
        </p:txBody>
      </p:sp>
      <p:sp>
        <p:nvSpPr>
          <p:cNvPr id="25" name="Shape 19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6" name="Text 20"/>
          <p:cNvSpPr/>
          <p:nvPr/>
        </p:nvSpPr>
        <p:spPr>
          <a:xfrm>
            <a:off x="428625" y="4754166"/>
            <a:ext cx="225385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IS THE WEAPON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5594979" y="4789884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LATENCY: 0.02ms | UPTIME: 99.99% | STATUS: OPTIMIZED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93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364456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HQ: TOTAL COMMAND FOR FILCAN MANAGEMENT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721644"/>
            <a:ext cx="2619356" cy="1828354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721644"/>
            <a:ext cx="2619356" cy="364331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071688"/>
            <a:ext cx="2619356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2880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8675" y="1836837"/>
            <a:ext cx="12876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JONAH'S OVERRIDE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1500" y="2250281"/>
            <a:ext cx="1448395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CONTROL ACTIVE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571500" y="2555677"/>
            <a:ext cx="233360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Absolute manual control over lead distribution. Override AI decisions instantly to prioritize specific inventory or campaigns.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3262294" y="1721644"/>
            <a:ext cx="2619384" cy="1828354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62294" y="1721644"/>
            <a:ext cx="2619384" cy="364331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3262294" y="2071688"/>
            <a:ext cx="2619384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69" y="1828800"/>
            <a:ext cx="150019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40913" y="1836837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LOCKING MECHANISM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3405169" y="2250281"/>
            <a:ext cx="1071563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PROTOCOL</a:t>
            </a:r>
            <a:endParaRPr lang="en-US" sz="584" dirty="0"/>
          </a:p>
        </p:txBody>
      </p:sp>
      <p:sp>
        <p:nvSpPr>
          <p:cNvPr id="19" name="Text 14"/>
          <p:cNvSpPr/>
          <p:nvPr/>
        </p:nvSpPr>
        <p:spPr>
          <a:xfrm>
            <a:off x="3405169" y="2555677"/>
            <a:ext cx="233363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your high-value leads with your elite agents. Prevent lead leakage and ensure the best closers handle the best opportunities.</a:t>
            </a:r>
            <a:endParaRPr lang="en-US" sz="942" dirty="0"/>
          </a:p>
        </p:txBody>
      </p:sp>
      <p:sp>
        <p:nvSpPr>
          <p:cNvPr id="20" name="Shape 15"/>
          <p:cNvSpPr/>
          <p:nvPr/>
        </p:nvSpPr>
        <p:spPr>
          <a:xfrm>
            <a:off x="6095991" y="1721644"/>
            <a:ext cx="2619356" cy="1828354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95991" y="1721644"/>
            <a:ext cx="2619356" cy="364331"/>
          </a:xfrm>
          <a:prstGeom prst="rect">
            <a:avLst/>
          </a:prstGeom>
          <a:solidFill>
            <a:srgbClr val="D73A49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095991" y="2071688"/>
            <a:ext cx="2619356" cy="14288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66" y="1828800"/>
            <a:ext cx="192881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17472" y="1836837"/>
            <a:ext cx="10179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AUDIT LOG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6238866" y="2250281"/>
            <a:ext cx="1194792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</a:t>
            </a:r>
            <a:endParaRPr lang="en-US" sz="584" dirty="0"/>
          </a:p>
        </p:txBody>
      </p:sp>
      <p:sp>
        <p:nvSpPr>
          <p:cNvPr id="26" name="Text 20"/>
          <p:cNvSpPr/>
          <p:nvPr/>
        </p:nvSpPr>
        <p:spPr>
          <a:xfrm>
            <a:off x="6238866" y="2555677"/>
            <a:ext cx="233360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second-by-second history of every AI action and agent response. Total transparency for performance reviews and quality control.</a:t>
            </a:r>
            <a:endParaRPr lang="en-US" sz="942" dirty="0"/>
          </a:p>
        </p:txBody>
      </p:sp>
      <p:sp>
        <p:nvSpPr>
          <p:cNvPr id="27" name="Shape 21"/>
          <p:cNvSpPr/>
          <p:nvPr/>
        </p:nvSpPr>
        <p:spPr>
          <a:xfrm>
            <a:off x="428625" y="3878610"/>
            <a:ext cx="8286750" cy="4625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28625" y="3878610"/>
            <a:ext cx="8286750" cy="7144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9" name="Text 23"/>
          <p:cNvSpPr/>
          <p:nvPr/>
        </p:nvSpPr>
        <p:spPr>
          <a:xfrm>
            <a:off x="428625" y="4021485"/>
            <a:ext cx="124837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STATUS</a:t>
            </a:r>
            <a:endParaRPr lang="en-US" sz="584" dirty="0"/>
          </a:p>
        </p:txBody>
      </p:sp>
      <p:sp>
        <p:nvSpPr>
          <p:cNvPr id="30" name="Text 24"/>
          <p:cNvSpPr/>
          <p:nvPr/>
        </p:nvSpPr>
        <p:spPr>
          <a:xfrm>
            <a:off x="428625" y="4126855"/>
            <a:ext cx="12483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1193" dirty="0"/>
          </a:p>
        </p:txBody>
      </p:sp>
      <p:sp>
        <p:nvSpPr>
          <p:cNvPr id="31" name="Text 25"/>
          <p:cNvSpPr/>
          <p:nvPr/>
        </p:nvSpPr>
        <p:spPr>
          <a:xfrm>
            <a:off x="3832622" y="4021485"/>
            <a:ext cx="141089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ACCESS</a:t>
            </a:r>
            <a:endParaRPr lang="en-US" sz="584" dirty="0"/>
          </a:p>
        </p:txBody>
      </p:sp>
      <p:sp>
        <p:nvSpPr>
          <p:cNvPr id="32" name="Text 26"/>
          <p:cNvSpPr/>
          <p:nvPr/>
        </p:nvSpPr>
        <p:spPr>
          <a:xfrm>
            <a:off x="3832622" y="4126855"/>
            <a:ext cx="14108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01 ADMIN</a:t>
            </a:r>
            <a:endParaRPr lang="en-US" sz="1193" dirty="0"/>
          </a:p>
        </p:txBody>
      </p:sp>
      <p:sp>
        <p:nvSpPr>
          <p:cNvPr id="33" name="Text 27"/>
          <p:cNvSpPr/>
          <p:nvPr/>
        </p:nvSpPr>
        <p:spPr>
          <a:xfrm>
            <a:off x="7399139" y="4021485"/>
            <a:ext cx="131623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584" dirty="0"/>
          </a:p>
        </p:txBody>
      </p:sp>
      <p:sp>
        <p:nvSpPr>
          <p:cNvPr id="34" name="Text 28"/>
          <p:cNvSpPr/>
          <p:nvPr/>
        </p:nvSpPr>
        <p:spPr>
          <a:xfrm>
            <a:off x="7399139" y="4126855"/>
            <a:ext cx="13162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VERIFIED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SCIENCE OF THE "RELENTLESS" FOLLOW-UP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264444"/>
            <a:ext cx="3200400" cy="1193006"/>
          </a:xfrm>
          <a:prstGeom prst="rect">
            <a:avLst/>
          </a:prstGeom>
          <a:solidFill>
            <a:srgbClr val="30363D">
              <a:alpha val="4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219" y="1443038"/>
            <a:ext cx="28432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STANDARD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607219" y="1635919"/>
            <a:ext cx="28432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ATTEMPTS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607219" y="2019895"/>
            <a:ext cx="28432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most leads are abandoned by human agents.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428625" y="2586038"/>
            <a:ext cx="3200400" cy="1193006"/>
          </a:xfrm>
          <a:prstGeom prst="rect">
            <a:avLst/>
          </a:prstGeom>
          <a:solidFill>
            <a:srgbClr val="D73A49">
              <a:alpha val="5000"/>
            </a:srgbClr>
          </a:solidFill>
          <a:ln w="9144">
            <a:solidFill>
              <a:srgbClr val="D73A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7219" y="2764631"/>
            <a:ext cx="1443038" cy="150019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10" name="Text 7"/>
          <p:cNvSpPr/>
          <p:nvPr/>
        </p:nvSpPr>
        <p:spPr>
          <a:xfrm>
            <a:off x="607219" y="2764631"/>
            <a:ext cx="1443038" cy="15001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REVHUNTER PROTOCOL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7219" y="2986088"/>
            <a:ext cx="28432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607219" y="3370064"/>
            <a:ext cx="28432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persistence until they buy or they die.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3914775" y="1264444"/>
            <a:ext cx="2328863" cy="1178719"/>
          </a:xfrm>
          <a:prstGeom prst="rect">
            <a:avLst/>
          </a:prstGeom>
          <a:solidFill>
            <a:srgbClr val="21262D">
              <a:alpha val="6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1407319"/>
            <a:ext cx="171450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7650" y="1685925"/>
            <a:ext cx="2043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TRIGGERS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4057650" y="1912739"/>
            <a:ext cx="20431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sends tactical "Nudges" based on specific car interest and website re-visits.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6386513" y="1264444"/>
            <a:ext cx="2328863" cy="1171575"/>
          </a:xfrm>
          <a:prstGeom prst="rect">
            <a:avLst/>
          </a:prstGeom>
          <a:solidFill>
            <a:srgbClr val="21262D">
              <a:alpha val="6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88" y="1407319"/>
            <a:ext cx="214313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9388" y="1685925"/>
            <a:ext cx="2043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6529388" y="1912739"/>
            <a:ext cx="20431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persistence across SMS, Email, and Voice to stay top-of-mind.</a:t>
            </a:r>
            <a:endParaRPr lang="en-US" sz="780" dirty="0"/>
          </a:p>
        </p:txBody>
      </p:sp>
      <p:sp>
        <p:nvSpPr>
          <p:cNvPr id="21" name="Shape 16"/>
          <p:cNvSpPr/>
          <p:nvPr/>
        </p:nvSpPr>
        <p:spPr>
          <a:xfrm>
            <a:off x="3914775" y="2578894"/>
            <a:ext cx="2328863" cy="1185863"/>
          </a:xfrm>
          <a:prstGeom prst="rect">
            <a:avLst/>
          </a:prstGeom>
          <a:solidFill>
            <a:srgbClr val="21262D">
              <a:alpha val="6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2728913"/>
            <a:ext cx="192881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57650" y="3007519"/>
            <a:ext cx="2043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REACTIVATION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4057650" y="3234333"/>
            <a:ext cx="20431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Bringing "dead" leads back to life with smart, automated re-engagement campaigns.</a:t>
            </a:r>
            <a:endParaRPr lang="en-US" sz="780" dirty="0"/>
          </a:p>
        </p:txBody>
      </p:sp>
      <p:sp>
        <p:nvSpPr>
          <p:cNvPr id="25" name="Shape 19"/>
          <p:cNvSpPr/>
          <p:nvPr/>
        </p:nvSpPr>
        <p:spPr>
          <a:xfrm>
            <a:off x="6386513" y="2586038"/>
            <a:ext cx="2328863" cy="1178719"/>
          </a:xfrm>
          <a:prstGeom prst="rect">
            <a:avLst/>
          </a:prstGeom>
          <a:solidFill>
            <a:srgbClr val="21262D">
              <a:alpha val="6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388" y="2728913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29388" y="3007519"/>
            <a:ext cx="2043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LEAKAGE</a:t>
            </a:r>
            <a:endParaRPr lang="en-US" sz="885" dirty="0"/>
          </a:p>
        </p:txBody>
      </p:sp>
      <p:sp>
        <p:nvSpPr>
          <p:cNvPr id="28" name="Text 21"/>
          <p:cNvSpPr/>
          <p:nvPr/>
        </p:nvSpPr>
        <p:spPr>
          <a:xfrm>
            <a:off x="6529388" y="3234333"/>
            <a:ext cx="20431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lead is accounted for. No prospect is ever left behind.</a:t>
            </a:r>
            <a:endParaRPr lang="en-US" sz="780" dirty="0"/>
          </a:p>
        </p:txBody>
      </p:sp>
      <p:sp>
        <p:nvSpPr>
          <p:cNvPr id="29" name="Shape 22"/>
          <p:cNvSpPr/>
          <p:nvPr/>
        </p:nvSpPr>
        <p:spPr>
          <a:xfrm>
            <a:off x="0" y="4388048"/>
            <a:ext cx="9144000" cy="7554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0" y="4388048"/>
            <a:ext cx="9144000" cy="14288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31" name="Text 24"/>
          <p:cNvSpPr/>
          <p:nvPr/>
        </p:nvSpPr>
        <p:spPr>
          <a:xfrm>
            <a:off x="428625" y="4580930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HUNT UNTIL THEY </a:t>
            </a:r>
            <a:r>
              <a:rPr lang="en-US" sz="1602" b="1" spc="3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</a:t>
            </a:r>
            <a:r>
              <a:rPr lang="en-US" sz="1602" b="1" spc="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THEY </a:t>
            </a:r>
            <a:r>
              <a:rPr lang="en-US" sz="1602" b="1" spc="3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</a:t>
            </a:r>
            <a:endParaRPr lang="en-US" sz="160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78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0119"/>
            <a:ext cx="9144000" cy="28575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100% PERFORMANCE GUARANTEE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07306"/>
            <a:ext cx="2619384" cy="1985963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307306"/>
            <a:ext cx="2609841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07306"/>
            <a:ext cx="2609841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ZERO</a:t>
            </a:r>
            <a:endParaRPr lang="en-US" sz="98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13" y="1891308"/>
            <a:ext cx="401836" cy="357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" y="2468166"/>
            <a:ext cx="23240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SETUP FEES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71500" y="2764631"/>
            <a:ext cx="2324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aren't paying for software; you're paying for results. We don't win unless you close deals.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1852603" y="3123605"/>
            <a:ext cx="11144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73A49">
                    <a:alpha val="5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PROTOCOL: PERFORMANCE-ONLY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3252778" y="1307306"/>
            <a:ext cx="2624128" cy="1985963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57550" y="1307306"/>
            <a:ext cx="2614613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15" name="Text 11"/>
          <p:cNvSpPr/>
          <p:nvPr/>
        </p:nvSpPr>
        <p:spPr>
          <a:xfrm>
            <a:off x="3257550" y="1307306"/>
            <a:ext cx="2614613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CONSTANT</a:t>
            </a:r>
            <a:endParaRPr lang="en-US" sz="987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938" y="1891308"/>
            <a:ext cx="401836" cy="357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00425" y="2468166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PULSE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3400425" y="2764631"/>
            <a:ext cx="23288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consistent flow of 10+ Qualified Leads delivered every single day. No dry spells, ever.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4814888" y="3123605"/>
            <a:ext cx="9858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73A49">
                    <a:alpha val="5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METRIC: 10+ DAILY PULSE</a:t>
            </a:r>
            <a:endParaRPr lang="en-US" sz="516" dirty="0"/>
          </a:p>
        </p:txBody>
      </p:sp>
      <p:sp>
        <p:nvSpPr>
          <p:cNvPr id="20" name="Shape 15"/>
          <p:cNvSpPr/>
          <p:nvPr/>
        </p:nvSpPr>
        <p:spPr>
          <a:xfrm>
            <a:off x="6086475" y="1307306"/>
            <a:ext cx="2628900" cy="1985963"/>
          </a:xfrm>
          <a:prstGeom prst="rect">
            <a:avLst/>
          </a:prstGeom>
          <a:solidFill>
            <a:srgbClr val="21262D">
              <a:alpha val="80000"/>
            </a:srgbClr>
          </a:solidFill>
          <a:ln w="9144">
            <a:solidFill>
              <a:srgbClr val="D73A49">
                <a:alpha val="3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96019" y="1307306"/>
            <a:ext cx="2619384" cy="33575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2" name="Text 17"/>
          <p:cNvSpPr/>
          <p:nvPr/>
        </p:nvSpPr>
        <p:spPr>
          <a:xfrm>
            <a:off x="6096019" y="1307306"/>
            <a:ext cx="2619384" cy="335756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GROWTH: INFINITE</a:t>
            </a:r>
            <a:endParaRPr lang="en-US" sz="98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103" y="1891308"/>
            <a:ext cx="357188" cy="3571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8894" y="2468166"/>
            <a:ext cx="23336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6238894" y="2764631"/>
            <a:ext cx="23336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handle 100 or 1,000 leads without adding a single human body to your payroll.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7700990" y="3109317"/>
            <a:ext cx="9429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73A49">
                    <a:alpha val="5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READY TO SCALE</a:t>
            </a:r>
            <a:endParaRPr lang="en-US" sz="516" dirty="0"/>
          </a:p>
        </p:txBody>
      </p:sp>
      <p:sp>
        <p:nvSpPr>
          <p:cNvPr id="27" name="Shape 21"/>
          <p:cNvSpPr/>
          <p:nvPr/>
        </p:nvSpPr>
        <p:spPr>
          <a:xfrm>
            <a:off x="428625" y="3564731"/>
            <a:ext cx="828675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28625" y="3564731"/>
            <a:ext cx="8286750" cy="14288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9" name="Text 23"/>
          <p:cNvSpPr/>
          <p:nvPr/>
        </p:nvSpPr>
        <p:spPr>
          <a:xfrm>
            <a:off x="1373386" y="3743325"/>
            <a:ext cx="63972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ASSURANCE: </a:t>
            </a:r>
            <a:r>
              <a:rPr lang="en-US" sz="1397" b="1" spc="1" kern="0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ZERO-RISK, HIGH-REWARD</a:t>
            </a:r>
            <a:r>
              <a:rPr lang="en-US" sz="139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PARTNERSHIP</a:t>
            </a:r>
            <a:endParaRPr lang="en-US" sz="139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2925" y="432392"/>
            <a:ext cx="8058150" cy="4278716"/>
          </a:xfrm>
          <a:prstGeom prst="rect">
            <a:avLst/>
          </a:prstGeom>
          <a:solidFill>
            <a:srgbClr val="21262D">
              <a:alpha val="90000"/>
            </a:srgbClr>
          </a:solidFill>
          <a:ln w="27432">
            <a:solidFill>
              <a:srgbClr val="D73A4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0125" y="889592"/>
            <a:ext cx="714375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PERFORMANCE-ONLY PARTNERSHIP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2593181" y="2226869"/>
            <a:ext cx="132516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400%+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672655" y="2641206"/>
            <a:ext cx="1166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LIFT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346972" y="2226869"/>
            <a:ext cx="77331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4346972" y="2641206"/>
            <a:ext cx="7733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FEES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548908" y="2226869"/>
            <a:ext cx="100191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5718572" y="2641206"/>
            <a:ext cx="6625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RISK-FREE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1000125" y="3153770"/>
            <a:ext cx="7143750" cy="892969"/>
          </a:xfrm>
          <a:prstGeom prst="rect">
            <a:avLst/>
          </a:prstGeom>
          <a:solidFill>
            <a:srgbClr val="D73A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237" y="3560964"/>
            <a:ext cx="271463" cy="2571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22574" y="3551141"/>
            <a:ext cx="551318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 THE RELENTLESS ENGINE TODAY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1000125" y="4261052"/>
            <a:ext cx="7143750" cy="421481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D73A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READY FOR DEPLOYMENT: FILCAN CARS HQ ]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2026-04-09T05:57:14Z</dcterms:created>
  <dcterms:modified xsi:type="dcterms:W3CDTF">2026-04-09T05:57:14Z</dcterms:modified>
</cp:coreProperties>
</file>